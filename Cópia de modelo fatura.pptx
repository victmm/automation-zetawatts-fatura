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embeddedFontLst>
    <p:embeddedFont>
      <p:font typeface="Play" panose="020B0604020202020204" charset="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  <p15:guide id="3" pos="170">
          <p15:clr>
            <a:srgbClr val="A4A3A4"/>
          </p15:clr>
        </p15:guide>
        <p15:guide id="4" pos="4151">
          <p15:clr>
            <a:srgbClr val="A4A3A4"/>
          </p15:clr>
        </p15:guide>
        <p15:guide id="5" orient="horz" pos="237">
          <p15:clr>
            <a:srgbClr val="A4A3A4"/>
          </p15:clr>
        </p15:guide>
        <p15:guide id="6" orient="horz" pos="6003">
          <p15:clr>
            <a:srgbClr val="A4A3A4"/>
          </p15:clr>
        </p15:guide>
        <p15:guide id="7" orient="horz" pos="1777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" roundtripDataSignature="AMtx7miCNQt2HXOl37+77x03ozn/O58h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F9F6E8B-21B0-45F6-9C9C-89747B0CCD53}">
  <a:tblStyle styleId="{2F9F6E8B-21B0-45F6-9C9C-89747B0CCD53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222" y="72"/>
      </p:cViewPr>
      <p:guideLst>
        <p:guide orient="horz" pos="3120"/>
        <p:guide pos="2160"/>
        <p:guide pos="170"/>
        <p:guide pos="4151"/>
        <p:guide orient="horz" pos="237"/>
        <p:guide orient="horz" pos="6003"/>
        <p:guide orient="horz" pos="177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5" Type="http://schemas.openxmlformats.org/officeDocument/2006/relationships/font" Target="fonts/font2.fntdata"/><Relationship Id="rId10" Type="http://customschemas.google.com/relationships/presentationmetadata" Target="metadata"/><Relationship Id="rId4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H:\Meu%20Drive\Zetawatts\Opera&#231;&#227;o\Controle%20de%20cr&#233;ditos%20ZetaG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H:\Meu%20Drive\Zetawatts\Opera&#231;&#227;o\Controle%20de%20cr&#233;ditos%20ZetaGD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bg2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'Faturamento Icaraí'!$A$31:$A$43</c:f>
              <c:numCache>
                <c:formatCode>mmm\-yy</c:formatCode>
                <c:ptCount val="13"/>
                <c:pt idx="0">
                  <c:v>45870</c:v>
                </c:pt>
                <c:pt idx="1">
                  <c:v>45901</c:v>
                </c:pt>
                <c:pt idx="2">
                  <c:v>45931</c:v>
                </c:pt>
                <c:pt idx="3">
                  <c:v>45962</c:v>
                </c:pt>
                <c:pt idx="4">
                  <c:v>45992</c:v>
                </c:pt>
                <c:pt idx="5">
                  <c:v>46023</c:v>
                </c:pt>
                <c:pt idx="6">
                  <c:v>46054</c:v>
                </c:pt>
                <c:pt idx="7">
                  <c:v>46082</c:v>
                </c:pt>
                <c:pt idx="8">
                  <c:v>46113</c:v>
                </c:pt>
                <c:pt idx="9">
                  <c:v>46143</c:v>
                </c:pt>
                <c:pt idx="10">
                  <c:v>46174</c:v>
                </c:pt>
                <c:pt idx="11">
                  <c:v>46204</c:v>
                </c:pt>
                <c:pt idx="12">
                  <c:v>46235</c:v>
                </c:pt>
              </c:numCache>
            </c:numRef>
          </c:cat>
          <c:val>
            <c:numRef>
              <c:f>'Faturamento Icaraí'!$B$31:$B$43</c:f>
              <c:numCache>
                <c:formatCode>#,##0</c:formatCode>
                <c:ptCount val="13"/>
                <c:pt idx="0">
                  <c:v>4089</c:v>
                </c:pt>
                <c:pt idx="1">
                  <c:v>4109</c:v>
                </c:pt>
                <c:pt idx="2">
                  <c:v>4093</c:v>
                </c:pt>
                <c:pt idx="3">
                  <c:v>4238</c:v>
                </c:pt>
                <c:pt idx="4">
                  <c:v>4908</c:v>
                </c:pt>
                <c:pt idx="5">
                  <c:v>4957</c:v>
                </c:pt>
                <c:pt idx="6">
                  <c:v>4359</c:v>
                </c:pt>
                <c:pt idx="7">
                  <c:v>4611</c:v>
                </c:pt>
                <c:pt idx="8">
                  <c:v>4024</c:v>
                </c:pt>
                <c:pt idx="9">
                  <c:v>3931</c:v>
                </c:pt>
                <c:pt idx="10">
                  <c:v>3423</c:v>
                </c:pt>
                <c:pt idx="11">
                  <c:v>3731</c:v>
                </c:pt>
                <c:pt idx="12">
                  <c:v>4186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82-4C98-9630-C1A9BDB9EE1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560461247"/>
        <c:axId val="560459327"/>
      </c:barChart>
      <c:dateAx>
        <c:axId val="560461247"/>
        <c:scaling>
          <c:orientation val="minMax"/>
        </c:scaling>
        <c:delete val="0"/>
        <c:axPos val="l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bg2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pt-BR"/>
          </a:p>
        </c:txPr>
        <c:crossAx val="560459327"/>
        <c:crosses val="autoZero"/>
        <c:auto val="1"/>
        <c:lblOffset val="100"/>
        <c:baseTimeUnit val="months"/>
      </c:dateAx>
      <c:valAx>
        <c:axId val="560459327"/>
        <c:scaling>
          <c:orientation val="minMax"/>
        </c:scaling>
        <c:delete val="1"/>
        <c:axPos val="b"/>
        <c:numFmt formatCode="#,##0" sourceLinked="1"/>
        <c:majorTickMark val="none"/>
        <c:minorTickMark val="none"/>
        <c:tickLblPos val="nextTo"/>
        <c:crossAx val="5604612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700">
          <a:solidFill>
            <a:schemeClr val="bg2"/>
          </a:solidFill>
          <a:latin typeface="Aptos" panose="020B0004020202020204" pitchFamily="34" charset="0"/>
        </a:defRPr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'Faturamento Icaraí'!$M$1</c:f>
              <c:strCache>
                <c:ptCount val="1"/>
                <c:pt idx="0">
                  <c:v>Fatura Enel (R$)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bg2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'Faturamento Icaraí'!$A$32:$A$43</c:f>
              <c:numCache>
                <c:formatCode>mmm\-yy</c:formatCode>
                <c:ptCount val="12"/>
                <c:pt idx="0">
                  <c:v>45901</c:v>
                </c:pt>
                <c:pt idx="1">
                  <c:v>45931</c:v>
                </c:pt>
                <c:pt idx="2">
                  <c:v>45962</c:v>
                </c:pt>
                <c:pt idx="3">
                  <c:v>45992</c:v>
                </c:pt>
                <c:pt idx="4">
                  <c:v>46023</c:v>
                </c:pt>
                <c:pt idx="5">
                  <c:v>46054</c:v>
                </c:pt>
                <c:pt idx="6">
                  <c:v>46082</c:v>
                </c:pt>
                <c:pt idx="7">
                  <c:v>46113</c:v>
                </c:pt>
                <c:pt idx="8">
                  <c:v>46143</c:v>
                </c:pt>
                <c:pt idx="9">
                  <c:v>46174</c:v>
                </c:pt>
                <c:pt idx="10">
                  <c:v>46204</c:v>
                </c:pt>
                <c:pt idx="11">
                  <c:v>46235</c:v>
                </c:pt>
              </c:numCache>
            </c:numRef>
          </c:cat>
          <c:val>
            <c:numRef>
              <c:f>'Faturamento Icaraí'!$Q$32:$Q$43</c:f>
              <c:numCache>
                <c:formatCode>#,##0.00</c:formatCode>
                <c:ptCount val="12"/>
                <c:pt idx="0">
                  <c:v>856.3864759999999</c:v>
                </c:pt>
                <c:pt idx="1">
                  <c:v>764.52984900000001</c:v>
                </c:pt>
                <c:pt idx="2">
                  <c:v>752.58936999999992</c:v>
                </c:pt>
                <c:pt idx="3">
                  <c:v>778.24668000000008</c:v>
                </c:pt>
                <c:pt idx="4">
                  <c:v>686.05292500000019</c:v>
                </c:pt>
                <c:pt idx="5">
                  <c:v>565.99871400000006</c:v>
                </c:pt>
                <c:pt idx="6">
                  <c:v>609.75864000000001</c:v>
                </c:pt>
                <c:pt idx="7">
                  <c:v>603.65231200000005</c:v>
                </c:pt>
                <c:pt idx="8">
                  <c:v>642.27889400000004</c:v>
                </c:pt>
                <c:pt idx="9">
                  <c:v>556.51288399999999</c:v>
                </c:pt>
                <c:pt idx="10">
                  <c:v>617.02402200000006</c:v>
                </c:pt>
                <c:pt idx="11">
                  <c:v>413.62354499999998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C1-497F-AD5B-A09D1AA1FA1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160977328"/>
        <c:axId val="1160976368"/>
      </c:barChart>
      <c:dateAx>
        <c:axId val="1160977328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bg2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pt-BR"/>
          </a:p>
        </c:txPr>
        <c:crossAx val="1160976368"/>
        <c:crosses val="autoZero"/>
        <c:auto val="1"/>
        <c:lblOffset val="100"/>
        <c:baseTimeUnit val="months"/>
      </c:dateAx>
      <c:valAx>
        <c:axId val="1160976368"/>
        <c:scaling>
          <c:orientation val="minMax"/>
        </c:scaling>
        <c:delete val="1"/>
        <c:axPos val="l"/>
        <c:numFmt formatCode="#,##0.00" sourceLinked="1"/>
        <c:majorTickMark val="none"/>
        <c:minorTickMark val="none"/>
        <c:tickLblPos val="nextTo"/>
        <c:crossAx val="11609773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700">
          <a:solidFill>
            <a:schemeClr val="bg2"/>
          </a:solidFill>
          <a:latin typeface="Aptos" panose="020B0004020202020204" pitchFamily="34" charset="0"/>
        </a:defRPr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sz="33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453723" y="1131401"/>
            <a:ext cx="3575341" cy="530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 i="0" u="none" strike="noStrike" cap="none" dirty="0">
                <a:solidFill>
                  <a:schemeClr val="dk2"/>
                </a:solidFill>
                <a:latin typeface="Aptos" panose="020B0004020202020204" pitchFamily="34" charset="0"/>
                <a:sym typeface="Arial"/>
              </a:rPr>
              <a:t>WW Studio 183 Cabeleireiros </a:t>
            </a:r>
            <a:r>
              <a:rPr lang="pt-BR" sz="1050" b="1" i="0" u="none" strike="noStrike" cap="none" dirty="0" err="1">
                <a:solidFill>
                  <a:schemeClr val="dk2"/>
                </a:solidFill>
                <a:latin typeface="Aptos" panose="020B0004020202020204" pitchFamily="34" charset="0"/>
                <a:sym typeface="Arial"/>
              </a:rPr>
              <a:t>Eireli</a:t>
            </a:r>
            <a:endParaRPr sz="1050" b="1" dirty="0">
              <a:solidFill>
                <a:schemeClr val="dk2"/>
              </a:solidFill>
              <a:latin typeface="Aptos" panose="020B0004020202020204" pitchFamily="34" charset="0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  <a:latin typeface="Aptos" panose="020B0004020202020204" pitchFamily="34" charset="0"/>
                <a:sym typeface="Arial"/>
              </a:rPr>
              <a:t>Rua Gavião Peixoto, nº 183, l. 103, Icaraí, Niterói - RJ</a:t>
            </a:r>
            <a:endParaRPr dirty="0">
              <a:latin typeface="Aptos" panose="020B000402020202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  <a:latin typeface="Aptos" panose="020B0004020202020204" pitchFamily="34" charset="0"/>
                <a:sym typeface="Arial"/>
              </a:rPr>
              <a:t>CNPJ:  04.746.000/0001-96	Nº do cliente: 8087524</a:t>
            </a:r>
            <a:endParaRPr dirty="0">
              <a:latin typeface="Aptos" panose="020B0004020202020204" pitchFamily="34" charset="0"/>
            </a:endParaRPr>
          </a:p>
        </p:txBody>
      </p:sp>
      <p:pic>
        <p:nvPicPr>
          <p:cNvPr id="85" name="Google Shape;85;p1" descr="Logotip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2092" y="286076"/>
            <a:ext cx="1919686" cy="14396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6" name="Google Shape;86;p1"/>
          <p:cNvGraphicFramePr/>
          <p:nvPr>
            <p:extLst>
              <p:ext uri="{D42A27DB-BD31-4B8C-83A1-F6EECF244321}">
                <p14:modId xmlns:p14="http://schemas.microsoft.com/office/powerpoint/2010/main" val="2293896557"/>
              </p:ext>
            </p:extLst>
          </p:nvPr>
        </p:nvGraphicFramePr>
        <p:xfrm>
          <a:off x="427508" y="2061694"/>
          <a:ext cx="4609100" cy="1950710"/>
        </p:xfrm>
        <a:graphic>
          <a:graphicData uri="http://schemas.openxmlformats.org/drawingml/2006/table">
            <a:tbl>
              <a:tblPr firstRow="1" bandRow="1">
                <a:noFill/>
                <a:tableStyleId>{2F9F6E8B-21B0-45F6-9C9C-89747B0CCD53}</a:tableStyleId>
              </a:tblPr>
              <a:tblGrid>
                <a:gridCol w="170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7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0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b="1" u="none" strike="noStrike" cap="none" dirty="0">
                          <a:solidFill>
                            <a:schemeClr val="dk2"/>
                          </a:solidFill>
                          <a:latin typeface="Aptos" panose="020B0004020202020204" pitchFamily="34" charset="0"/>
                          <a:ea typeface="Arial"/>
                          <a:cs typeface="Arial"/>
                          <a:sym typeface="Arial"/>
                        </a:rPr>
                        <a:t>Itens da fatura</a:t>
                      </a:r>
                      <a:endParaRPr dirty="0">
                        <a:latin typeface="Aptos" panose="020B0004020202020204" pitchFamily="34" charset="0"/>
                      </a:endParaRPr>
                    </a:p>
                  </a:txBody>
                  <a:tcPr marL="67500" marR="67500" marT="35100" marB="35100" anchor="ctr"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b="1" u="none" strike="noStrike" cap="none" dirty="0">
                          <a:solidFill>
                            <a:schemeClr val="dk2"/>
                          </a:solidFill>
                          <a:latin typeface="Aptos" panose="020B0004020202020204" pitchFamily="34" charset="0"/>
                          <a:ea typeface="Arial"/>
                          <a:cs typeface="Arial"/>
                          <a:sym typeface="Arial"/>
                        </a:rPr>
                        <a:t>Unidade</a:t>
                      </a:r>
                      <a:endParaRPr dirty="0">
                        <a:latin typeface="Aptos" panose="020B0004020202020204" pitchFamily="34" charset="0"/>
                      </a:endParaRPr>
                    </a:p>
                  </a:txBody>
                  <a:tcPr marL="67500" marR="67500" marT="35100" marB="35100" anchor="ctr"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b="1" u="none" strike="noStrike" cap="none">
                          <a:solidFill>
                            <a:schemeClr val="dk2"/>
                          </a:solidFill>
                          <a:latin typeface="Aptos" panose="020B0004020202020204" pitchFamily="34" charset="0"/>
                          <a:ea typeface="Arial"/>
                          <a:cs typeface="Arial"/>
                          <a:sym typeface="Arial"/>
                        </a:rPr>
                        <a:t>Quantidade</a:t>
                      </a:r>
                      <a:endParaRPr>
                        <a:latin typeface="Aptos" panose="020B0004020202020204" pitchFamily="34" charset="0"/>
                      </a:endParaRPr>
                    </a:p>
                  </a:txBody>
                  <a:tcPr marL="67500" marR="67500" marT="35100" marB="35100" anchor="ctr"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b="1" u="none" strike="noStrike" cap="none">
                          <a:solidFill>
                            <a:schemeClr val="dk2"/>
                          </a:solidFill>
                          <a:latin typeface="Aptos" panose="020B0004020202020204" pitchFamily="34" charset="0"/>
                          <a:ea typeface="Arial"/>
                          <a:cs typeface="Arial"/>
                          <a:sym typeface="Arial"/>
                        </a:rPr>
                        <a:t>Valor unitário </a:t>
                      </a:r>
                      <a:endParaRPr>
                        <a:latin typeface="Aptos" panose="020B0004020202020204" pitchFamily="34" charset="0"/>
                      </a:endParaRPr>
                    </a:p>
                  </a:txBody>
                  <a:tcPr marL="67500" marR="67500" marT="35100" marB="35100" anchor="ctr"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b="1" u="none" strike="noStrike" cap="none">
                          <a:solidFill>
                            <a:schemeClr val="dk2"/>
                          </a:solidFill>
                          <a:latin typeface="Aptos" panose="020B0004020202020204" pitchFamily="34" charset="0"/>
                          <a:ea typeface="Arial"/>
                          <a:cs typeface="Arial"/>
                          <a:sym typeface="Arial"/>
                        </a:rPr>
                        <a:t>Valor (R$)</a:t>
                      </a:r>
                      <a:endParaRPr>
                        <a:latin typeface="Aptos" panose="020B0004020202020204" pitchFamily="34" charset="0"/>
                      </a:endParaRPr>
                    </a:p>
                  </a:txBody>
                  <a:tcPr marL="67500" marR="67500" marT="35100" marB="35100" anchor="ctr"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b="1" i="0" u="none" strike="noStrike" cap="none" dirty="0">
                          <a:solidFill>
                            <a:schemeClr val="dk2"/>
                          </a:solidFill>
                          <a:latin typeface="Aptos" panose="020B0004020202020204" pitchFamily="34" charset="0"/>
                          <a:ea typeface="Arial"/>
                          <a:cs typeface="Arial"/>
                          <a:sym typeface="Arial"/>
                        </a:rPr>
                        <a:t>Energia injetada </a:t>
                      </a:r>
                      <a:r>
                        <a:rPr lang="pt-BR" sz="900" b="1" i="0" u="none" strike="noStrike" cap="none" dirty="0" err="1">
                          <a:solidFill>
                            <a:schemeClr val="dk2"/>
                          </a:solidFill>
                          <a:latin typeface="Aptos" panose="020B0004020202020204" pitchFamily="34" charset="0"/>
                          <a:ea typeface="Arial"/>
                          <a:cs typeface="Arial"/>
                          <a:sym typeface="Arial"/>
                        </a:rPr>
                        <a:t>ZetaGD</a:t>
                      </a:r>
                      <a:endParaRPr sz="900" b="1" i="0" u="none" strike="noStrike" cap="none" dirty="0">
                        <a:solidFill>
                          <a:schemeClr val="dk2"/>
                        </a:solidFill>
                        <a:latin typeface="Aptos" panose="020B00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34300" marB="34300" anchor="ctr">
                    <a:lnT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b="0" i="0" u="none" strike="noStrike" cap="none" dirty="0">
                          <a:solidFill>
                            <a:schemeClr val="dk2"/>
                          </a:solidFill>
                          <a:latin typeface="Aptos" panose="020B0004020202020204" pitchFamily="34" charset="0"/>
                          <a:ea typeface="Arial"/>
                          <a:cs typeface="Arial"/>
                          <a:sym typeface="Arial"/>
                        </a:rPr>
                        <a:t>kWh</a:t>
                      </a:r>
                      <a:endParaRPr dirty="0">
                        <a:latin typeface="Aptos" panose="020B0004020202020204" pitchFamily="34" charset="0"/>
                      </a:endParaRPr>
                    </a:p>
                  </a:txBody>
                  <a:tcPr marL="68575" marR="68575" marT="34300" marB="34300" anchor="ctr">
                    <a:lnT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b="0" i="0" u="none" strike="noStrike" cap="none" dirty="0">
                          <a:solidFill>
                            <a:schemeClr val="dk2"/>
                          </a:solidFill>
                          <a:latin typeface="Aptos" panose="020B0004020202020204" pitchFamily="34" charset="0"/>
                          <a:ea typeface="Arial"/>
                          <a:cs typeface="Arial"/>
                          <a:sym typeface="Arial"/>
                        </a:rPr>
                        <a:t>2.347</a:t>
                      </a:r>
                      <a:endParaRPr dirty="0">
                        <a:latin typeface="Aptos" panose="020B0004020202020204" pitchFamily="34" charset="0"/>
                      </a:endParaRPr>
                    </a:p>
                  </a:txBody>
                  <a:tcPr marL="68575" marR="68575" marT="34300" marB="34300" anchor="ctr">
                    <a:lnT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b="0" i="0" u="none" strike="noStrike" cap="none" dirty="0">
                          <a:solidFill>
                            <a:schemeClr val="dk2"/>
                          </a:solidFill>
                          <a:latin typeface="Aptos" panose="020B0004020202020204" pitchFamily="34" charset="0"/>
                          <a:ea typeface="Arial"/>
                          <a:cs typeface="Arial"/>
                          <a:sym typeface="Arial"/>
                        </a:rPr>
                        <a:t>1,20476</a:t>
                      </a:r>
                      <a:endParaRPr sz="900" b="0" i="0" u="none" strike="noStrike" cap="none" dirty="0">
                        <a:solidFill>
                          <a:schemeClr val="dk2"/>
                        </a:solidFill>
                        <a:latin typeface="Aptos" panose="020B00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34300" marB="34300" anchor="ctr">
                    <a:lnT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b="0" i="0" u="none" strike="noStrike" cap="none" dirty="0">
                          <a:solidFill>
                            <a:schemeClr val="dk2"/>
                          </a:solidFill>
                          <a:latin typeface="Aptos" panose="020B0004020202020204" pitchFamily="34" charset="0"/>
                          <a:ea typeface="Arial"/>
                          <a:cs typeface="Arial"/>
                          <a:sym typeface="Arial"/>
                        </a:rPr>
                        <a:t>2.827,57</a:t>
                      </a:r>
                      <a:endParaRPr dirty="0">
                        <a:latin typeface="Aptos" panose="020B0004020202020204" pitchFamily="34" charset="0"/>
                      </a:endParaRPr>
                    </a:p>
                  </a:txBody>
                  <a:tcPr marL="68575" marR="68575" marT="34300" marB="34300" anchor="ctr">
                    <a:lnT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b="1" i="0" u="none" strike="noStrike" cap="none" dirty="0">
                          <a:solidFill>
                            <a:schemeClr val="dk2"/>
                          </a:solidFill>
                          <a:latin typeface="Aptos" panose="020B0004020202020204" pitchFamily="34" charset="0"/>
                          <a:ea typeface="Arial"/>
                          <a:cs typeface="Arial"/>
                          <a:sym typeface="Arial"/>
                        </a:rPr>
                        <a:t>Adicional bandeira</a:t>
                      </a:r>
                      <a:endParaRPr dirty="0">
                        <a:latin typeface="Aptos" panose="020B0004020202020204" pitchFamily="34" charset="0"/>
                      </a:endParaRPr>
                    </a:p>
                  </a:txBody>
                  <a:tcPr marL="68575" marR="68575" marT="34300" marB="34300" anchor="ctr"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b="0" i="0" u="none" strike="noStrike" cap="none" dirty="0">
                          <a:solidFill>
                            <a:schemeClr val="dk2"/>
                          </a:solidFill>
                          <a:latin typeface="Aptos" panose="020B0004020202020204" pitchFamily="34" charset="0"/>
                          <a:ea typeface="Arial"/>
                          <a:cs typeface="Arial"/>
                          <a:sym typeface="Arial"/>
                        </a:rPr>
                        <a:t>kWh</a:t>
                      </a:r>
                      <a:endParaRPr sz="900" b="0" i="0" u="none" strike="noStrike" cap="none" dirty="0">
                        <a:solidFill>
                          <a:schemeClr val="dk2"/>
                        </a:solidFill>
                        <a:latin typeface="Aptos" panose="020B00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34300" marB="34300" anchor="ctr"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b="0" i="0" u="none" strike="noStrike" cap="none" dirty="0">
                          <a:solidFill>
                            <a:schemeClr val="dk2"/>
                          </a:solidFill>
                          <a:latin typeface="Aptos" panose="020B0004020202020204" pitchFamily="34" charset="0"/>
                          <a:ea typeface="Arial"/>
                          <a:cs typeface="Arial"/>
                          <a:sym typeface="Arial"/>
                        </a:rPr>
                        <a:t>2.347</a:t>
                      </a:r>
                      <a:endParaRPr sz="900" b="0" i="0" u="none" strike="noStrike" cap="none" dirty="0">
                        <a:solidFill>
                          <a:schemeClr val="dk2"/>
                        </a:solidFill>
                        <a:latin typeface="Aptos" panose="020B00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34300" marB="34300" anchor="ctr"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b="0" i="0" u="none" strike="noStrike" cap="none" dirty="0">
                          <a:solidFill>
                            <a:schemeClr val="dk2"/>
                          </a:solidFill>
                          <a:latin typeface="Aptos" panose="020B0004020202020204" pitchFamily="34" charset="0"/>
                          <a:ea typeface="Arial"/>
                          <a:cs typeface="Arial"/>
                          <a:sym typeface="Arial"/>
                        </a:rPr>
                        <a:t>0,02564</a:t>
                      </a:r>
                      <a:endParaRPr sz="900" b="0" i="0" u="none" strike="noStrike" cap="none" dirty="0">
                        <a:solidFill>
                          <a:schemeClr val="dk2"/>
                        </a:solidFill>
                        <a:latin typeface="Aptos" panose="020B00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34300" marB="34300" anchor="ctr"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b="0" i="0" u="none" strike="noStrike" cap="none" dirty="0">
                          <a:solidFill>
                            <a:schemeClr val="dk2"/>
                          </a:solidFill>
                          <a:latin typeface="Aptos" panose="020B0004020202020204" pitchFamily="34" charset="0"/>
                          <a:cs typeface="Arial"/>
                          <a:sym typeface="Arial"/>
                        </a:rPr>
                        <a:t>60,18</a:t>
                      </a:r>
                      <a:endParaRPr dirty="0">
                        <a:latin typeface="Aptos" panose="020B0004020202020204" pitchFamily="34" charset="0"/>
                      </a:endParaRPr>
                    </a:p>
                  </a:txBody>
                  <a:tcPr marL="68575" marR="68575" marT="34300" marB="34300" anchor="ctr"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b="1" i="0" u="none" strike="noStrike" cap="none" dirty="0">
                          <a:solidFill>
                            <a:srgbClr val="BF4F14"/>
                          </a:solidFill>
                          <a:latin typeface="Aptos" panose="020B0004020202020204" pitchFamily="34" charset="0"/>
                          <a:ea typeface="Arial"/>
                          <a:cs typeface="Arial"/>
                          <a:sym typeface="Arial"/>
                        </a:rPr>
                        <a:t>Desconto </a:t>
                      </a:r>
                      <a:r>
                        <a:rPr lang="pt-BR" sz="900" b="1" i="0" u="none" strike="noStrike" cap="none" dirty="0" err="1">
                          <a:solidFill>
                            <a:srgbClr val="BF4F14"/>
                          </a:solidFill>
                          <a:latin typeface="Aptos" panose="020B0004020202020204" pitchFamily="34" charset="0"/>
                          <a:ea typeface="Arial"/>
                          <a:cs typeface="Arial"/>
                          <a:sym typeface="Arial"/>
                        </a:rPr>
                        <a:t>ZetaGD</a:t>
                      </a:r>
                      <a:endParaRPr sz="900" b="1" i="0" u="none" strike="noStrike" cap="none" dirty="0">
                        <a:solidFill>
                          <a:srgbClr val="BF4F14"/>
                        </a:solidFill>
                        <a:latin typeface="Aptos" panose="020B00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34300" marB="34300" anchor="ctr"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b="0" i="0" u="none" strike="noStrike" cap="none" dirty="0">
                        <a:solidFill>
                          <a:schemeClr val="dk2"/>
                        </a:solidFill>
                        <a:latin typeface="Aptos" panose="020B00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34300" marB="34300" anchor="ctr"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b="1" i="0" u="none" strike="noStrike" cap="none" dirty="0">
                          <a:solidFill>
                            <a:srgbClr val="BF4F14"/>
                          </a:solidFill>
                          <a:latin typeface="Aptos" panose="020B0004020202020204" pitchFamily="34" charset="0"/>
                          <a:ea typeface="Arial"/>
                          <a:cs typeface="Arial"/>
                          <a:sym typeface="Arial"/>
                        </a:rPr>
                        <a:t>12.5%</a:t>
                      </a:r>
                      <a:endParaRPr dirty="0">
                        <a:latin typeface="Aptos" panose="020B0004020202020204" pitchFamily="34" charset="0"/>
                      </a:endParaRPr>
                    </a:p>
                  </a:txBody>
                  <a:tcPr marL="68575" marR="68575" marT="34300" marB="34300" anchor="ctr"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b="1" i="0" u="none" strike="noStrike" cap="none" dirty="0">
                        <a:solidFill>
                          <a:srgbClr val="BF4F14"/>
                        </a:solidFill>
                        <a:latin typeface="Aptos" panose="020B00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34300" marB="34300" anchor="ctr"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b="1" u="none" strike="noStrike" cap="none" dirty="0">
                          <a:solidFill>
                            <a:srgbClr val="BF4F14"/>
                          </a:solidFill>
                          <a:latin typeface="Aptos" panose="020B0004020202020204" pitchFamily="34" charset="0"/>
                        </a:rPr>
                        <a:t>-353,45</a:t>
                      </a:r>
                      <a:endParaRPr sz="900" b="1" i="0" u="none" strike="noStrike" cap="none" dirty="0">
                        <a:solidFill>
                          <a:srgbClr val="BF4F14"/>
                        </a:solidFill>
                        <a:latin typeface="Aptos" panose="020B00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34300" marB="34300" anchor="ctr"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b="1" i="0" u="none" strike="noStrike" cap="none" dirty="0">
                          <a:solidFill>
                            <a:srgbClr val="BF4F14"/>
                          </a:solidFill>
                          <a:latin typeface="Aptos" panose="020B0004020202020204" pitchFamily="34" charset="0"/>
                          <a:ea typeface="Arial"/>
                          <a:cs typeface="Arial"/>
                          <a:sym typeface="Arial"/>
                        </a:rPr>
                        <a:t>Desconto Bandeira Amarela</a:t>
                      </a:r>
                      <a:endParaRPr dirty="0">
                        <a:latin typeface="Aptos" panose="020B0004020202020204" pitchFamily="34" charset="0"/>
                      </a:endParaRPr>
                    </a:p>
                  </a:txBody>
                  <a:tcPr marL="68575" marR="68575" marT="34300" marB="34300" anchor="ctr"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Aptos" panose="020B0004020202020204" pitchFamily="34" charset="0"/>
                      </a:endParaRPr>
                    </a:p>
                  </a:txBody>
                  <a:tcPr marL="68575" marR="68575" marT="34300" marB="34300" anchor="ctr"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b="1" i="0" u="none" strike="noStrike" cap="none" dirty="0">
                          <a:solidFill>
                            <a:srgbClr val="BF4F14"/>
                          </a:solidFill>
                          <a:latin typeface="Aptos" panose="020B0004020202020204" pitchFamily="34" charset="0"/>
                          <a:ea typeface="Arial"/>
                          <a:cs typeface="Arial"/>
                          <a:sym typeface="Arial"/>
                        </a:rPr>
                        <a:t>100%</a:t>
                      </a:r>
                      <a:endParaRPr dirty="0">
                        <a:latin typeface="Aptos" panose="020B0004020202020204" pitchFamily="34" charset="0"/>
                      </a:endParaRPr>
                    </a:p>
                  </a:txBody>
                  <a:tcPr marL="68575" marR="68575" marT="34300" marB="34300" anchor="ctr"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latin typeface="Aptos" panose="020B0004020202020204" pitchFamily="34" charset="0"/>
                      </a:endParaRPr>
                    </a:p>
                  </a:txBody>
                  <a:tcPr marL="68575" marR="68575" marT="34300" marB="34300" anchor="ctr"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b="1" i="0" u="none" strike="noStrike" cap="none" dirty="0">
                          <a:solidFill>
                            <a:srgbClr val="BF4F14"/>
                          </a:solidFill>
                          <a:latin typeface="Aptos" panose="020B0004020202020204" pitchFamily="34" charset="0"/>
                          <a:ea typeface="Arial"/>
                          <a:cs typeface="Arial"/>
                          <a:sym typeface="Arial"/>
                        </a:rPr>
                        <a:t>-60,18</a:t>
                      </a:r>
                      <a:endParaRPr dirty="0">
                        <a:latin typeface="Aptos" panose="020B0004020202020204" pitchFamily="34" charset="0"/>
                      </a:endParaRPr>
                    </a:p>
                  </a:txBody>
                  <a:tcPr marL="68575" marR="68575" marT="34300" marB="34300" anchor="ctr"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b="1" u="none" strike="noStrike" cap="none" dirty="0">
                          <a:solidFill>
                            <a:schemeClr val="lt2"/>
                          </a:solidFill>
                          <a:latin typeface="Aptos" panose="020B0004020202020204" pitchFamily="34" charset="0"/>
                        </a:rPr>
                        <a:t>Total a pagar </a:t>
                      </a:r>
                      <a:r>
                        <a:rPr lang="pt-BR" sz="900" b="1" u="none" strike="noStrike" cap="none" dirty="0" err="1">
                          <a:solidFill>
                            <a:schemeClr val="lt2"/>
                          </a:solidFill>
                          <a:latin typeface="Aptos" panose="020B0004020202020204" pitchFamily="34" charset="0"/>
                        </a:rPr>
                        <a:t>ZetaGD</a:t>
                      </a:r>
                      <a:endParaRPr sz="900" b="1" i="0" u="none" strike="noStrike" cap="none" dirty="0">
                        <a:solidFill>
                          <a:schemeClr val="lt2"/>
                        </a:solidFill>
                        <a:latin typeface="Aptos" panose="020B00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34300" marB="34300" anchor="ctr"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b="0" i="0" u="none" strike="noStrike" cap="none" dirty="0">
                        <a:solidFill>
                          <a:schemeClr val="lt2"/>
                        </a:solidFill>
                        <a:latin typeface="Aptos" panose="020B00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34300" marB="34300" anchor="ctr"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b="0" i="0" u="none" strike="noStrike" cap="none" dirty="0">
                        <a:solidFill>
                          <a:schemeClr val="lt2"/>
                        </a:solidFill>
                        <a:latin typeface="Aptos" panose="020B00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34300" marB="34300" anchor="ctr"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b="0" i="0" u="none" strike="noStrike" cap="none" dirty="0">
                        <a:solidFill>
                          <a:schemeClr val="lt2"/>
                        </a:solidFill>
                        <a:latin typeface="Aptos" panose="020B00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34300" marB="34300" anchor="ctr"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b="1" i="0" u="none" strike="noStrike" cap="none" dirty="0">
                          <a:solidFill>
                            <a:schemeClr val="lt2"/>
                          </a:solidFill>
                          <a:latin typeface="Aptos" panose="020B0004020202020204" pitchFamily="34" charset="0"/>
                          <a:ea typeface="Arial"/>
                          <a:cs typeface="Arial"/>
                          <a:sym typeface="Arial"/>
                        </a:rPr>
                        <a:t>2.474,13</a:t>
                      </a:r>
                      <a:endParaRPr dirty="0">
                        <a:latin typeface="Aptos" panose="020B0004020202020204" pitchFamily="34" charset="0"/>
                      </a:endParaRPr>
                    </a:p>
                  </a:txBody>
                  <a:tcPr marL="68575" marR="68575" marT="34300" marB="34300" anchor="ctr"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b="1" i="0" u="none" strike="noStrike" cap="none" dirty="0">
                          <a:solidFill>
                            <a:schemeClr val="lt2"/>
                          </a:solidFill>
                          <a:latin typeface="Aptos" panose="020B0004020202020204" pitchFamily="34" charset="0"/>
                          <a:ea typeface="Arial"/>
                          <a:cs typeface="Arial"/>
                          <a:sym typeface="Arial"/>
                        </a:rPr>
                        <a:t>Desconto total</a:t>
                      </a:r>
                      <a:endParaRPr sz="900" b="1" i="0" u="none" strike="noStrike" cap="none" dirty="0">
                        <a:solidFill>
                          <a:schemeClr val="lt2"/>
                        </a:solidFill>
                        <a:latin typeface="Aptos" panose="020B00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34300" marB="34300" anchor="ctr"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b="0" i="0" u="none" strike="noStrike" cap="none" dirty="0">
                        <a:solidFill>
                          <a:schemeClr val="lt2"/>
                        </a:solidFill>
                        <a:latin typeface="Aptos" panose="020B00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34300" marB="34300" anchor="ctr"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b="0" i="0" u="none" strike="noStrike" cap="none" dirty="0">
                        <a:solidFill>
                          <a:schemeClr val="lt2"/>
                        </a:solidFill>
                        <a:latin typeface="Aptos" panose="020B00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34300" marB="34300" anchor="ctr"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b="0" i="0" u="none" strike="noStrike" cap="none" dirty="0">
                        <a:solidFill>
                          <a:schemeClr val="lt2"/>
                        </a:solidFill>
                        <a:latin typeface="Aptos" panose="020B00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34300" marB="34300" anchor="ctr"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pt-BR" sz="9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E8E8E8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Arial"/>
                          <a:cs typeface="Arial"/>
                          <a:sym typeface="Arial"/>
                        </a:rPr>
                        <a:t>-413,62</a:t>
                      </a:r>
                      <a:endParaRPr dirty="0">
                        <a:latin typeface="Aptos" panose="020B0004020202020204" pitchFamily="34" charset="0"/>
                      </a:endParaRPr>
                    </a:p>
                  </a:txBody>
                  <a:tcPr marL="68575" marR="68575" marT="34300" marB="34300" anchor="ctr"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312406"/>
                  </a:ext>
                </a:extLst>
              </a:tr>
            </a:tbl>
          </a:graphicData>
        </a:graphic>
      </p:graphicFrame>
      <p:graphicFrame>
        <p:nvGraphicFramePr>
          <p:cNvPr id="87" name="Google Shape;87;p1"/>
          <p:cNvGraphicFramePr/>
          <p:nvPr>
            <p:extLst>
              <p:ext uri="{D42A27DB-BD31-4B8C-83A1-F6EECF244321}">
                <p14:modId xmlns:p14="http://schemas.microsoft.com/office/powerpoint/2010/main" val="3481222157"/>
              </p:ext>
            </p:extLst>
          </p:nvPr>
        </p:nvGraphicFramePr>
        <p:xfrm>
          <a:off x="1526722" y="439754"/>
          <a:ext cx="3383300" cy="623250"/>
        </p:xfrm>
        <a:graphic>
          <a:graphicData uri="http://schemas.openxmlformats.org/drawingml/2006/table">
            <a:tbl>
              <a:tblPr firstRow="1" bandRow="1">
                <a:noFill/>
                <a:tableStyleId>{2F9F6E8B-21B0-45F6-9C9C-89747B0CCD53}</a:tableStyleId>
              </a:tblPr>
              <a:tblGrid>
                <a:gridCol w="129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3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1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16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1" u="none" strike="noStrike" cap="none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Arial"/>
                          <a:cs typeface="Arial"/>
                          <a:sym typeface="Arial"/>
                        </a:rPr>
                        <a:t>Mês de referência</a:t>
                      </a:r>
                      <a:endParaRPr>
                        <a:latin typeface="Aptos" panose="020B0004020202020204" pitchFamily="34" charset="0"/>
                      </a:endParaRPr>
                    </a:p>
                  </a:txBody>
                  <a:tcPr marL="67500" marR="67500" marT="35100" marB="35100" anchor="ctr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1" u="none" strike="noStrike" cap="none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Arial"/>
                          <a:cs typeface="Arial"/>
                          <a:sym typeface="Arial"/>
                        </a:rPr>
                        <a:t>Vencimento</a:t>
                      </a:r>
                      <a:endParaRPr>
                        <a:latin typeface="Aptos" panose="020B0004020202020204" pitchFamily="34" charset="0"/>
                      </a:endParaRPr>
                    </a:p>
                  </a:txBody>
                  <a:tcPr marL="67500" marR="67500" marT="35100" marB="3510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1" u="none" strike="noStrike" cap="none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Arial"/>
                          <a:cs typeface="Arial"/>
                          <a:sym typeface="Arial"/>
                        </a:rPr>
                        <a:t>Total a pagar</a:t>
                      </a:r>
                      <a:endParaRPr>
                        <a:latin typeface="Aptos" panose="020B0004020202020204" pitchFamily="34" charset="0"/>
                      </a:endParaRPr>
                    </a:p>
                  </a:txBody>
                  <a:tcPr marL="67500" marR="67500" marT="35100" marB="3510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dirty="0">
                          <a:solidFill>
                            <a:schemeClr val="dk2"/>
                          </a:solidFill>
                          <a:latin typeface="Aptos" panose="020B0004020202020204" pitchFamily="34" charset="0"/>
                        </a:rPr>
                        <a:t>Agosto</a:t>
                      </a:r>
                      <a:r>
                        <a:rPr lang="pt-BR" sz="1100" b="0" u="none" strike="noStrike" cap="none" dirty="0">
                          <a:solidFill>
                            <a:schemeClr val="dk2"/>
                          </a:solidFill>
                          <a:latin typeface="Aptos" panose="020B0004020202020204" pitchFamily="34" charset="0"/>
                        </a:rPr>
                        <a:t>/2026 </a:t>
                      </a:r>
                      <a:endParaRPr sz="1100" b="0" i="0" u="none" strike="noStrike" cap="none" dirty="0">
                        <a:solidFill>
                          <a:schemeClr val="dk2"/>
                        </a:solidFill>
                        <a:latin typeface="Aptos" panose="020B00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50" marR="7150" marT="7150" marB="0" anchor="ctr">
                    <a:lnL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i="0" u="none" strike="noStrike" cap="none" dirty="0">
                          <a:solidFill>
                            <a:schemeClr val="dk2"/>
                          </a:solidFill>
                          <a:latin typeface="Aptos" panose="020B0004020202020204" pitchFamily="34" charset="0"/>
                          <a:ea typeface="Arial"/>
                          <a:cs typeface="Arial"/>
                          <a:sym typeface="Arial"/>
                        </a:rPr>
                        <a:t>20/09/2026</a:t>
                      </a:r>
                      <a:endParaRPr dirty="0">
                        <a:latin typeface="Aptos" panose="020B0004020202020204" pitchFamily="34" charset="0"/>
                      </a:endParaRPr>
                    </a:p>
                  </a:txBody>
                  <a:tcPr marL="7150" marR="7150" marT="715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0" u="none" strike="noStrike" cap="none" dirty="0">
                          <a:solidFill>
                            <a:schemeClr val="dk2"/>
                          </a:solidFill>
                          <a:latin typeface="Aptos" panose="020B0004020202020204" pitchFamily="34" charset="0"/>
                        </a:rPr>
                        <a:t>R$ 2.474,13</a:t>
                      </a:r>
                      <a:endParaRPr sz="1100" b="0" i="0" u="none" strike="noStrike" cap="none" dirty="0">
                        <a:solidFill>
                          <a:schemeClr val="dk2"/>
                        </a:solidFill>
                        <a:latin typeface="Aptos" panose="020B0004020202020204" pitchFamily="34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7150" marR="7150" marT="7150" marB="0" anchor="ctr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8" name="Google Shape;88;p1"/>
          <p:cNvSpPr txBox="1"/>
          <p:nvPr/>
        </p:nvSpPr>
        <p:spPr>
          <a:xfrm>
            <a:off x="427508" y="4344564"/>
            <a:ext cx="4676342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b="1" dirty="0">
                <a:solidFill>
                  <a:schemeClr val="dk2"/>
                </a:solidFill>
                <a:latin typeface="Aptos" panose="020B0004020202020204" pitchFamily="34" charset="0"/>
                <a:sym typeface="Arial"/>
              </a:rPr>
              <a:t>Desconto </a:t>
            </a:r>
            <a:r>
              <a:rPr lang="pt-BR" sz="900" b="1" dirty="0" err="1">
                <a:solidFill>
                  <a:schemeClr val="dk2"/>
                </a:solidFill>
                <a:latin typeface="Aptos" panose="020B0004020202020204" pitchFamily="34" charset="0"/>
                <a:sym typeface="Arial"/>
              </a:rPr>
              <a:t>ZetaGD</a:t>
            </a:r>
            <a:r>
              <a:rPr lang="pt-BR" sz="900" b="1" dirty="0">
                <a:solidFill>
                  <a:schemeClr val="dk2"/>
                </a:solidFill>
                <a:latin typeface="Aptos" panose="020B0004020202020204" pitchFamily="34" charset="0"/>
                <a:sym typeface="Arial"/>
              </a:rPr>
              <a:t> (R$) nos últimos 12 meses</a:t>
            </a:r>
            <a:endParaRPr dirty="0">
              <a:latin typeface="Aptos" panose="020B0004020202020204" pitchFamily="34" charset="0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5156951" y="2059927"/>
            <a:ext cx="1595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b="1">
                <a:solidFill>
                  <a:schemeClr val="dk2"/>
                </a:solidFill>
                <a:latin typeface="Aptos" panose="020B0004020202020204" pitchFamily="34" charset="0"/>
                <a:sym typeface="Arial"/>
              </a:rPr>
              <a:t>Consumo (kWh) nos últimos 12 meses</a:t>
            </a:r>
            <a:endParaRPr>
              <a:latin typeface="Aptos" panose="020B0004020202020204" pitchFamily="34" charset="0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5233346" y="4752271"/>
            <a:ext cx="1514000" cy="861116"/>
          </a:xfrm>
          <a:prstGeom prst="rect">
            <a:avLst/>
          </a:prstGeom>
          <a:solidFill>
            <a:srgbClr val="BF4F1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lt1"/>
                </a:solidFill>
                <a:latin typeface="Aptos" panose="020B0004020202020204" pitchFamily="34" charset="0"/>
                <a:sym typeface="Arial"/>
              </a:rPr>
              <a:t>Você economizou nos últimos 12 meses</a:t>
            </a:r>
            <a:endParaRPr dirty="0">
              <a:latin typeface="Aptos" panose="020B0004020202020204" pitchFamily="34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chemeClr val="lt1"/>
              </a:solidFill>
              <a:latin typeface="Aptos" panose="020B0004020202020204" pitchFamily="34" charset="0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chemeClr val="lt1"/>
                </a:solidFill>
                <a:latin typeface="Aptos" panose="020B0004020202020204" pitchFamily="34" charset="0"/>
                <a:sym typeface="Arial"/>
              </a:rPr>
              <a:t>R$ 7.846,65</a:t>
            </a:r>
            <a:endParaRPr dirty="0">
              <a:latin typeface="Aptos" panose="020B0004020202020204" pitchFamily="34" charset="0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5082163" y="1286654"/>
            <a:ext cx="17758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  <a:latin typeface="Aptos" panose="020B0004020202020204" pitchFamily="34" charset="0"/>
                <a:sym typeface="Arial"/>
              </a:rPr>
              <a:t>Chave pix: 42.808.090/0001-91</a:t>
            </a:r>
            <a:endParaRPr dirty="0">
              <a:latin typeface="Aptos" panose="020B000402020202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  <a:latin typeface="Aptos" panose="020B0004020202020204" pitchFamily="34" charset="0"/>
                <a:sym typeface="Arial"/>
              </a:rPr>
              <a:t>Nome: ZETAWATTS GD</a:t>
            </a:r>
            <a:endParaRPr dirty="0">
              <a:latin typeface="Aptos" panose="020B0004020202020204" pitchFamily="34" charset="0"/>
            </a:endParaRPr>
          </a:p>
        </p:txBody>
      </p:sp>
      <p:pic>
        <p:nvPicPr>
          <p:cNvPr id="92" name="Google Shape;92;p1" descr="Código QR&#10;&#10;Descrição gerada automaticamente"/>
          <p:cNvPicPr preferRelativeResize="0"/>
          <p:nvPr/>
        </p:nvPicPr>
        <p:blipFill rotWithShape="1">
          <a:blip r:embed="rId4">
            <a:alphaModFix/>
          </a:blip>
          <a:srcRect l="25094" t="33120" r="24820" b="29028"/>
          <a:stretch/>
        </p:blipFill>
        <p:spPr>
          <a:xfrm>
            <a:off x="5439161" y="381818"/>
            <a:ext cx="909041" cy="91662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3" name="Google Shape;93;p1"/>
          <p:cNvGraphicFramePr/>
          <p:nvPr>
            <p:extLst>
              <p:ext uri="{D42A27DB-BD31-4B8C-83A1-F6EECF244321}">
                <p14:modId xmlns:p14="http://schemas.microsoft.com/office/powerpoint/2010/main" val="2262300631"/>
              </p:ext>
            </p:extLst>
          </p:nvPr>
        </p:nvGraphicFramePr>
        <p:xfrm>
          <a:off x="5156950" y="2397518"/>
          <a:ext cx="1514000" cy="18711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94" name="Google Shape;94;p1"/>
          <p:cNvGraphicFramePr/>
          <p:nvPr>
            <p:extLst>
              <p:ext uri="{D42A27DB-BD31-4B8C-83A1-F6EECF244321}">
                <p14:modId xmlns:p14="http://schemas.microsoft.com/office/powerpoint/2010/main" val="17385347"/>
              </p:ext>
            </p:extLst>
          </p:nvPr>
        </p:nvGraphicFramePr>
        <p:xfrm>
          <a:off x="427508" y="4552313"/>
          <a:ext cx="4676342" cy="11571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cxnSp>
        <p:nvCxnSpPr>
          <p:cNvPr id="95" name="Google Shape;95;p1"/>
          <p:cNvCxnSpPr/>
          <p:nvPr/>
        </p:nvCxnSpPr>
        <p:spPr>
          <a:xfrm>
            <a:off x="113016" y="5845996"/>
            <a:ext cx="663433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dash"/>
            <a:miter lim="8000"/>
            <a:headEnd type="none" w="sm" len="sm"/>
            <a:tailEnd type="none" w="sm" len="sm"/>
          </a:ln>
        </p:spPr>
      </p:cxnSp>
      <p:pic>
        <p:nvPicPr>
          <p:cNvPr id="7" name="Imagem 6">
            <a:extLst>
              <a:ext uri="{FF2B5EF4-FFF2-40B4-BE49-F238E27FC236}">
                <a16:creationId xmlns:a16="http://schemas.microsoft.com/office/drawing/2014/main" id="{A8DEEEAF-8EB8-B334-D3E8-44264BB127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654" y="6006721"/>
            <a:ext cx="6747346" cy="34595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124</Words>
  <Application>Microsoft Office PowerPoint</Application>
  <PresentationFormat>Papel A4 (210 x 297 mm)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Play</vt:lpstr>
      <vt:lpstr>Aptos</vt:lpstr>
      <vt:lpstr>Arial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Eduardo Seraphim</dc:creator>
  <cp:lastModifiedBy>Eduardo Seraphim</cp:lastModifiedBy>
  <cp:revision>5</cp:revision>
  <dcterms:created xsi:type="dcterms:W3CDTF">2023-10-29T18:44:45Z</dcterms:created>
  <dcterms:modified xsi:type="dcterms:W3CDTF">2026-09-09T21:14:26Z</dcterms:modified>
</cp:coreProperties>
</file>